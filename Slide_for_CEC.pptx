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new_sampl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915" y="415925"/>
            <a:ext cx="5334000" cy="602615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913880" y="367030"/>
            <a:ext cx="4895215" cy="61239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" altLang="en-US" sz="1400">
                <a:latin typeface="Times New Roman" panose="02020603050405020304" charset="0"/>
                <a:cs typeface="Times New Roman" panose="02020603050405020304" charset="0"/>
              </a:rPr>
              <a:t>New Sampling Logic:</a:t>
            </a:r>
            <a:endParaRPr lang="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" altLang="en-US" sz="1400">
                <a:latin typeface="Times New Roman" panose="02020603050405020304" charset="0"/>
                <a:cs typeface="Times New Roman" panose="02020603050405020304" charset="0"/>
              </a:rPr>
              <a:t>Goal - select the best stations for routing in order to minimize total hours.</a:t>
            </a:r>
            <a:endParaRPr lang="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" altLang="en-US" sz="1400">
                <a:latin typeface="Times New Roman" panose="02020603050405020304" charset="0"/>
                <a:cs typeface="Times New Roman" panose="02020603050405020304" charset="0"/>
              </a:rPr>
              <a:t>Limitation - Computationally intractable to co-optimize sampling and routing and probably not really worth the effort/computational load as compared to the heuristic approach below</a:t>
            </a:r>
            <a:endParaRPr lang="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" altLang="en-US" sz="1400">
                <a:latin typeface="Times New Roman" panose="02020603050405020304" charset="0"/>
                <a:cs typeface="Times New Roman" panose="02020603050405020304" charset="0"/>
              </a:rPr>
              <a:t>Approach - minimize distance to assigned depot while meeting group minimum counts</a:t>
            </a:r>
            <a:endParaRPr lang="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" altLang="en-US" sz="1400">
                <a:latin typeface="Times New Roman" panose="02020603050405020304" charset="0"/>
                <a:cs typeface="Times New Roman" panose="02020603050405020304" charset="0"/>
              </a:rPr>
              <a:t>Groups - defined by region, network, DAC/LIC status, URB/RUR status, and AC/DC. e.g. (Los Angeles, Tesla, True, URB, AC)</a:t>
            </a:r>
            <a:endParaRPr lang="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" altLang="en-US" sz="1400">
                <a:latin typeface="Times New Roman" panose="02020603050405020304" charset="0"/>
                <a:cs typeface="Times New Roman" panose="02020603050405020304" charset="0"/>
              </a:rPr>
              <a:t>Assignments for Davis/Irvine depots shown</a:t>
            </a:r>
            <a:endParaRPr lang="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" altLang="en-US" sz="1400">
                <a:latin typeface="Times New Roman" panose="02020603050405020304" charset="0"/>
                <a:cs typeface="Times New Roman" panose="02020603050405020304" charset="0"/>
              </a:rPr>
              <a:t>Green - Davis - 578 Total</a:t>
            </a:r>
            <a:endParaRPr lang="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" altLang="en-US" sz="1400">
                <a:latin typeface="Times New Roman" panose="02020603050405020304" charset="0"/>
                <a:cs typeface="Times New Roman" panose="02020603050405020304" charset="0"/>
              </a:rPr>
              <a:t>Yellow - Irvine - 1045 Total</a:t>
            </a:r>
            <a:endParaRPr lang="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" altLang="en-US" sz="1400">
                <a:latin typeface="Times New Roman" panose="02020603050405020304" charset="0"/>
                <a:cs typeface="Times New Roman" panose="02020603050405020304" charset="0"/>
              </a:rPr>
              <a:t>Purple - Not Selected</a:t>
            </a:r>
            <a:endParaRPr lang="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" altLang="en-US" sz="1400">
                <a:latin typeface="Times New Roman" panose="02020603050405020304" charset="0"/>
                <a:cs typeface="Times New Roman" panose="02020603050405020304" charset="0"/>
              </a:rPr>
              <a:t>Notes:</a:t>
            </a:r>
            <a:endParaRPr lang="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" altLang="en-US" sz="1400">
                <a:latin typeface="Times New Roman" panose="02020603050405020304" charset="0"/>
                <a:cs typeface="Times New Roman" panose="02020603050405020304" charset="0"/>
              </a:rPr>
              <a:t>Most testing has been around Davis so the area is somewhat depleted compared to Irvine</a:t>
            </a:r>
            <a:endParaRPr lang="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" altLang="en-US" sz="1400">
                <a:latin typeface="Times New Roman" panose="02020603050405020304" charset="0"/>
                <a:cs typeface="Times New Roman" panose="02020603050405020304" charset="0"/>
              </a:rPr>
              <a:t>This technique introduces a “proximity-to-depot” bias that was not present with random sampling. Not sure if this is a problem.</a:t>
            </a:r>
            <a:endParaRPr lang="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</Words>
  <Application>WPS Presentation</Application>
  <PresentationFormat>宽屏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SimSun</vt:lpstr>
      <vt:lpstr>Wingdings</vt:lpstr>
      <vt:lpstr>Arial Unicode MS</vt:lpstr>
      <vt:lpstr>Arial Black</vt:lpstr>
      <vt:lpstr>微软雅黑</vt:lpstr>
      <vt:lpstr>宋体</vt:lpstr>
      <vt:lpstr>Liberation Mono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</dc:creator>
  <cp:lastModifiedBy>aaron</cp:lastModifiedBy>
  <cp:revision>7</cp:revision>
  <dcterms:created xsi:type="dcterms:W3CDTF">2024-12-03T01:20:50Z</dcterms:created>
  <dcterms:modified xsi:type="dcterms:W3CDTF">2024-12-03T01:20:50Z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1033-11.1.0.9505</vt:lpwstr>
  </property>
</Properties>
</file>